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9E8C">
              <a:alpha val="20000"/>
            </a:srgbClr>
          </a:solidFill>
          <a:ln w="12700">
            <a:solidFill>
              <a:srgbClr val="009E8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7772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VERVEGUARD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325880"/>
            <a:ext cx="6858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94360" y="2423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payment protection — pluggable, observable, fail-fast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94360" y="3200400"/>
            <a:ext cx="2560320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@Async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67512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handling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29000" y="3200400"/>
            <a:ext cx="2560320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502152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Gates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02152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rules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263640" y="3200400"/>
            <a:ext cx="2560320" cy="1005840"/>
          </a:xfrm>
          <a:prstGeom prst="rect">
            <a:avLst/>
          </a:prstGeom>
          <a:solidFill>
            <a:srgbClr val="1A2E44"/>
          </a:solidFill>
          <a:ln w="1524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36792" y="32461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336792" y="37307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strategy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Overview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10312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Request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25880" y="1508760"/>
            <a:ext cx="0" cy="365760"/>
          </a:xfrm>
          <a:prstGeom prst="line">
            <a:avLst/>
          </a:prstGeom>
          <a:noFill/>
          <a:ln w="3175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874520"/>
            <a:ext cx="2103120" cy="594360"/>
          </a:xfrm>
          <a:prstGeom prst="rect">
            <a:avLst/>
          </a:prstGeom>
          <a:solidFill>
            <a:srgbClr val="009E8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874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Verveguard Sidecar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25880" y="2468880"/>
            <a:ext cx="0" cy="365760"/>
          </a:xfrm>
          <a:prstGeom prst="line">
            <a:avLst/>
          </a:prstGeom>
          <a:noFill/>
          <a:ln w="31750">
            <a:solidFill>
              <a:srgbClr val="00C9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834640"/>
            <a:ext cx="2103120" cy="5943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8346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Payment Switch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25880" y="2468880"/>
            <a:ext cx="0" cy="502920"/>
          </a:xfrm>
          <a:prstGeom prst="line">
            <a:avLst/>
          </a:prstGeom>
          <a:noFill/>
          <a:ln w="19050">
            <a:solidFill>
              <a:srgbClr val="8DA3B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25880" y="2971800"/>
            <a:ext cx="1280160" cy="0"/>
          </a:xfrm>
          <a:prstGeom prst="line">
            <a:avLst/>
          </a:prstGeom>
          <a:noFill/>
          <a:ln w="19050">
            <a:solidFill>
              <a:srgbClr val="8DA3B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325880" y="2971800"/>
            <a:ext cx="-548640" cy="0"/>
          </a:xfrm>
          <a:prstGeom prst="line">
            <a:avLst/>
          </a:prstGeom>
          <a:noFill/>
          <a:ln w="19050">
            <a:solidFill>
              <a:srgbClr val="8DA3B5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43200" y="2743200"/>
            <a:ext cx="1645920" cy="5943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743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JDBC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3520440"/>
            <a:ext cx="1645920" cy="59436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0" y="35204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Cache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987552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7448" y="1014984"/>
            <a:ext cx="338328" cy="33832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57800" y="9144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Pipeline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5780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blocks exit immediately — no wasted evaluation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1947672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75104"/>
            <a:ext cx="338328" cy="33832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257800" y="1874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Gates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257800" y="21488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Enable/disable rules via application.properties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663440" y="2907792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935224"/>
            <a:ext cx="338328" cy="33832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257800" y="2834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Persistence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525780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for relational integrity; JDBC for high-speed writes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4663440" y="3867912"/>
            <a:ext cx="475488" cy="475488"/>
          </a:xfrm>
          <a:prstGeom prst="ellipse">
            <a:avLst/>
          </a:prstGeom>
          <a:solidFill>
            <a:srgbClr val="0D1B2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3895344"/>
            <a:ext cx="338328" cy="33832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257800" y="37947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Prefetched Data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5257800" y="4069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query fetches all static data per request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9E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4864" cy="1170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941832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941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978408"/>
            <a:ext cx="1188720" cy="256032"/>
          </a:xfrm>
          <a:prstGeom prst="rect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978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289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BlacklistGate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blacklisted merchants and cards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68680"/>
            <a:ext cx="54864" cy="1170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941832"/>
            <a:ext cx="411480" cy="411480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41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49240" y="978408"/>
            <a:ext cx="1188720" cy="256032"/>
          </a:xfrm>
          <a:prstGeom prst="rect">
            <a:avLst/>
          </a:prstGeom>
          <a:solidFill>
            <a:srgbClr val="E63946">
              <a:alpha val="2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97840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12893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RateLimitGate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6276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IPs exceeding request limits (Bucket4j)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19456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194560"/>
            <a:ext cx="54864" cy="1170432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411480" y="2267712"/>
            <a:ext cx="411480" cy="411480"/>
          </a:xfrm>
          <a:prstGeom prst="ellipse">
            <a:avLst/>
          </a:prstGeom>
          <a:solidFill>
            <a:srgbClr val="FFB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2304288"/>
            <a:ext cx="1188720" cy="256032"/>
          </a:xfrm>
          <a:prstGeom prst="rect">
            <a:avLst/>
          </a:prstGeom>
          <a:solidFill>
            <a:srgbClr val="FFBE0B">
              <a:alpha val="2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2304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2615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LocationAnomalyGate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11480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impossible travel patterns via GeoIP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19456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194560"/>
            <a:ext cx="54864" cy="1170432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267712"/>
            <a:ext cx="411480" cy="411480"/>
          </a:xfrm>
          <a:prstGeom prst="ellipse">
            <a:avLst/>
          </a:prstGeom>
          <a:solidFill>
            <a:srgbClr val="FFB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267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349240" y="2304288"/>
            <a:ext cx="1188720" cy="256032"/>
          </a:xfrm>
          <a:prstGeom prst="rect">
            <a:avLst/>
          </a:prstGeom>
          <a:solidFill>
            <a:srgbClr val="FFBE0B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23042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26151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VelocityGate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2953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high transaction frequency via Redis sets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52044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520440"/>
            <a:ext cx="54864" cy="1170432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38" name="Shape 36"/>
          <p:cNvSpPr/>
          <p:nvPr/>
        </p:nvSpPr>
        <p:spPr>
          <a:xfrm>
            <a:off x="411480" y="3593592"/>
            <a:ext cx="411480" cy="411480"/>
          </a:xfrm>
          <a:prstGeom prst="ellipse">
            <a:avLst/>
          </a:prstGeom>
          <a:solidFill>
            <a:srgbClr val="FFB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593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14400" y="3630168"/>
            <a:ext cx="1188720" cy="256032"/>
          </a:xfrm>
          <a:prstGeom prst="rect">
            <a:avLst/>
          </a:prstGeom>
          <a:solidFill>
            <a:srgbClr val="FFBE0B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4400" y="3630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3941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TransactionLimitGate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11480" y="4279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amounts exceeding merchant tier limits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709160" y="3520440"/>
            <a:ext cx="4114800" cy="1170432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520440"/>
            <a:ext cx="54864" cy="1170432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0" y="3593592"/>
            <a:ext cx="411480" cy="411480"/>
          </a:xfrm>
          <a:prstGeom prst="ellipse">
            <a:avLst/>
          </a:prstGeom>
          <a:solidFill>
            <a:srgbClr val="FFB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3593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349240" y="3630168"/>
            <a:ext cx="1188720" cy="256032"/>
          </a:xfrm>
          <a:prstGeom prst="rect">
            <a:avLst/>
          </a:prstGeom>
          <a:solidFill>
            <a:srgbClr val="FFBE0B">
              <a:alpha val="2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349240" y="36301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46320" y="3941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TimeWindowGate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846320" y="4279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transactions outside business hours (06–22)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Decision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474720" cy="56692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86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transaction snapshot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435608"/>
            <a:ext cx="0" cy="18288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18488"/>
            <a:ext cx="3474720" cy="56692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636776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Hard-Block Gates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BlacklistGate → RateLimitGate (fail-fast)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2185416"/>
            <a:ext cx="0" cy="18288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368296"/>
            <a:ext cx="3474720" cy="56692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2386584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Gates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264261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+ Location + Limit + TimeWindow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2935224"/>
            <a:ext cx="0" cy="18288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118104"/>
            <a:ext cx="3474720" cy="56692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13639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Accumulate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339242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all gate scores (0–100 each)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685032"/>
            <a:ext cx="0" cy="18288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867912"/>
            <a:ext cx="3474720" cy="56692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8862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414223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REVIEW / BLOCK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8412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1325880"/>
            <a:ext cx="4206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325880"/>
            <a:ext cx="64008" cy="71323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37160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29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852160" y="1444752"/>
            <a:ext cx="1188720" cy="274320"/>
          </a:xfrm>
          <a:prstGeom prst="rect">
            <a:avLst/>
          </a:prstGeom>
          <a:solidFill>
            <a:srgbClr val="2EC4B6">
              <a:alpha val="1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14447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170992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proceeds normally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2148840"/>
            <a:ext cx="4206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FFB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148840"/>
            <a:ext cx="64008" cy="713232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19456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69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5852160" y="2267712"/>
            <a:ext cx="1188720" cy="274320"/>
          </a:xfrm>
          <a:prstGeom prst="rect">
            <a:avLst/>
          </a:prstGeom>
          <a:solidFill>
            <a:srgbClr val="FFBE0B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22677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Proceeds but flagged for review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2971800"/>
            <a:ext cx="420624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2971800"/>
            <a:ext cx="64008" cy="7132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8" name="Text 36"/>
          <p:cNvSpPr/>
          <p:nvPr/>
        </p:nvSpPr>
        <p:spPr>
          <a:xfrm>
            <a:off x="4709160" y="30175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+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5852160" y="3090672"/>
            <a:ext cx="1188720" cy="274320"/>
          </a:xfrm>
          <a:prstGeom prst="rect">
            <a:avLst/>
          </a:prstGeom>
          <a:solidFill>
            <a:srgbClr val="E63946">
              <a:alpha val="18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309067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335584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rejected immediately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794760"/>
            <a:ext cx="4206240" cy="1143000"/>
          </a:xfrm>
          <a:prstGeom prst="rect">
            <a:avLst/>
          </a:prstGeom>
          <a:solidFill>
            <a:srgbClr val="0A19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663440" y="3858768"/>
            <a:ext cx="406908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FraudDecision decide(int score)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&gt;= blockThreshold)  // 70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FraudDecision.BLOCK;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(score &gt;= reviewThreshold) // 30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FraudDecision.REVIEW;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FraudDecision.ALLOW;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&amp; Caching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65960" cy="20116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6596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896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PostgreSQL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· Cards · Accounts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integrity, complex joins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65960" cy="20116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1965960" cy="64008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896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Stored Procs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attempt logs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96312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High-speed inserts, no ORM overhead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1965960" cy="20116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822960"/>
            <a:ext cx="196596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896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Sorted Sets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515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counters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N+M) range queries, auto-expiry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822960"/>
            <a:ext cx="1965960" cy="2011680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822960"/>
            <a:ext cx="1965960" cy="64008"/>
          </a:xfrm>
          <a:prstGeom prst="rect">
            <a:avLst/>
          </a:prstGeom>
          <a:solidFill>
            <a:srgbClr val="B2F0E8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8961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2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L1 Cache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93992" y="1298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Blacklist hot 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93992" y="16916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In-process, sub-ms reads, avoids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" y="2971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Prefetched Data Provider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4206240" cy="1600200"/>
          </a:xfrm>
          <a:prstGeom prst="rect">
            <a:avLst/>
          </a:prstGeom>
          <a:solidFill>
            <a:srgbClr val="0A19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3401568"/>
            <a:ext cx="40690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prefetch(String cardHash, String ip)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StaticFraudData data 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fraudDataService.getEvaluationData(cardHash);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boolean isLimited =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rateLimiterService.isRateLimited(ip);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SNAPSHOT_HOLDER.set(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FraudDataSnapshot(data, isLimited)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29718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Velocity Tracking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337560"/>
            <a:ext cx="4206240" cy="1600200"/>
          </a:xfrm>
          <a:prstGeom prst="rect">
            <a:avLst/>
          </a:prstGeom>
          <a:solidFill>
            <a:srgbClr val="0A19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401568"/>
            <a:ext cx="40690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count(String card, OffsetDateTime since) {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count = redisTemplate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.opsForZSet().count(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toKey(card),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since.toInstant().toEpochMilli(),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Double.MAX_VALUE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count != null ? count.intValue() : 0;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Configuration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Performance Logging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206240" cy="3246120"/>
          </a:xfrm>
          <a:prstGeom prst="rect">
            <a:avLst/>
          </a:prstGeom>
          <a:solidFill>
            <a:srgbClr val="0A19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25296"/>
            <a:ext cx="406908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@Around("@annotation(Observed)")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Object observe(ProceedingJoinPoint pjp)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Throwable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cls = pjp.getTarget()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.getClass().getSimpleName();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method = pjp.getSignature().getName();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long start = System.currentTimeMillis();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result = pjp.proceed();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log.info("← {}.{} completed in {}ms",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cls, method,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System.currentTimeMillis() - start);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(Exception ex) {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log.error("← {}.{} failed in {}ms — {}",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cls, method,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System.currentTimeMillis() - start,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ex.getMessage());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ex;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3440" y="804672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Configuration Properties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70432"/>
            <a:ext cx="4206240" cy="2331720"/>
          </a:xfrm>
          <a:prstGeom prst="rect">
            <a:avLst/>
          </a:prstGeom>
          <a:solidFill>
            <a:srgbClr val="0A192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225296"/>
            <a:ext cx="406908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Thresholds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verveguard.block-threshold=70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verveguard.review-threshold=30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Velocity gate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verveguard.velocity.enabled=true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verveguard.velocity.threshold=3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verveguard.velocity.window-seconds=60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verveguard.velocity.score=30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window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verveguard.time-window.start-hour=6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verveguard.time-window.end-hour=22</a:t>
            </a:r>
            <a:endParaRPr lang="en-US" sz="900" dirty="0"/>
          </a:p>
          <a:p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GeoIP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verveguard.geo-ip.database-path=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CDD3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/opt/geoip/GeoLite2-City.mmdb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3657600"/>
            <a:ext cx="1325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9B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3657600"/>
            <a:ext cx="1325880" cy="6400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749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Health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00507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427939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 ≥ 50% = UP via /actuator/health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08192" y="3657600"/>
            <a:ext cx="1325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08192" y="3657600"/>
            <a:ext cx="1325880" cy="64008"/>
          </a:xfrm>
          <a:prstGeom prst="rect">
            <a:avLst/>
          </a:prstGeom>
          <a:solidFill>
            <a:srgbClr val="FFB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108192" y="3749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08192" y="400507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53912" y="427939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histograms, gate counters, cache stats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552944" y="3657600"/>
            <a:ext cx="132588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52944" y="3657600"/>
            <a:ext cx="1325880" cy="6400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2" name="Text 20"/>
          <p:cNvSpPr/>
          <p:nvPr/>
        </p:nvSpPr>
        <p:spPr>
          <a:xfrm>
            <a:off x="7552944" y="37490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52944" y="4005072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98664" y="427939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stress.js · overhead.js · cache-benchmark.js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09E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Verveguard — Summary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371600" y="68580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fraud detection · Sub-100ms · Pluggable · Observable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" y="1463040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572768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517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Fail-Fast Pipeline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1792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blocks exit without scoring soft gates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1463040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00600" y="1572768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3" name="Text 10"/>
          <p:cNvSpPr/>
          <p:nvPr/>
        </p:nvSpPr>
        <p:spPr>
          <a:xfrm>
            <a:off x="4800600" y="1572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349240" y="15179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Accumulation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49240" y="17922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flags sum to ALLOW / REVIEW / BLOCK decision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267712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2377440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2377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14400" y="2322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Prefetched Data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fetches all static evaluation data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09160" y="2267712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800600" y="2377440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23" name="Text 20"/>
          <p:cNvSpPr/>
          <p:nvPr/>
        </p:nvSpPr>
        <p:spPr>
          <a:xfrm>
            <a:off x="4800600" y="2377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49240" y="23225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Cache (L1+L2)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49240" y="2596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Caffeine in-process + Redis distributed with stampede protection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072384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3182112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3182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1440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Velocity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91440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Sorted-set range queries for sub-millisecond counting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709160" y="3072384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800600" y="3182112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33" name="Text 30"/>
          <p:cNvSpPr/>
          <p:nvPr/>
        </p:nvSpPr>
        <p:spPr>
          <a:xfrm>
            <a:off x="4800600" y="3182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349240" y="31272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Consequences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49240" y="3401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@Async card-block &amp; fraud alerts — non-blocking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274320" y="3877056"/>
            <a:ext cx="4206240" cy="658368"/>
          </a:xfrm>
          <a:prstGeom prst="rect">
            <a:avLst/>
          </a:prstGeom>
          <a:solidFill>
            <a:srgbClr val="1A2E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65760" y="3986784"/>
            <a:ext cx="438912" cy="438912"/>
          </a:xfrm>
          <a:prstGeom prst="ellipse">
            <a:avLst/>
          </a:prstGeom>
          <a:solidFill>
            <a:srgbClr val="00C9B1"/>
          </a:solidFill>
          <a:ln/>
        </p:spPr>
      </p:sp>
      <p:sp>
        <p:nvSpPr>
          <p:cNvPr id="38" name="Text 35"/>
          <p:cNvSpPr/>
          <p:nvPr/>
        </p:nvSpPr>
        <p:spPr>
          <a:xfrm>
            <a:off x="365760" y="3986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9144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914400" y="4206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AOP logging, Actuator health, Prometheus, k6 load tests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0" y="4773168"/>
            <a:ext cx="9144000" cy="384048"/>
          </a:xfrm>
          <a:prstGeom prst="rect">
            <a:avLst/>
          </a:prstGeom>
          <a:solidFill>
            <a:srgbClr val="00C9B1"/>
          </a:solidFill>
          <a:ln/>
        </p:spPr>
      </p:sp>
      <p:sp>
        <p:nvSpPr>
          <p:cNvPr id="42" name="Text 39"/>
          <p:cNvSpPr/>
          <p:nvPr/>
        </p:nvSpPr>
        <p:spPr>
          <a:xfrm>
            <a:off x="274320" y="48097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p95 Latency &lt; 100ms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2468880" y="48097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Cache Hit Rate &gt; 90%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663440" y="48097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Error Rate &lt; 1%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858000" y="480974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Hard-Block: Fail-Fast (0 extra gates)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Verveguard Fraud Detection System</dc:title>
  <dc:subject>PptxGenJS Presentation</dc:subject>
  <dc:creator>Lolu</dc:creator>
  <cp:lastModifiedBy>Lolu</cp:lastModifiedBy>
  <cp:revision>1</cp:revision>
  <dcterms:created xsi:type="dcterms:W3CDTF">2026-05-11T11:44:19Z</dcterms:created>
  <dcterms:modified xsi:type="dcterms:W3CDTF">2026-05-11T11:44:19Z</dcterms:modified>
</cp:coreProperties>
</file>